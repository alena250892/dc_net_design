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  <p:sldMasterId id="2147483674" r:id="rId3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2" r:id="rId9"/>
    <p:sldId id="301" r:id="rId10"/>
    <p:sldId id="263" r:id="rId11"/>
    <p:sldId id="261" r:id="rId12"/>
    <p:sldId id="268" r:id="rId13"/>
    <p:sldId id="299" r:id="rId14"/>
    <p:sldId id="300" r:id="rId15"/>
    <p:sldId id="302" r:id="rId16"/>
    <p:sldId id="310" r:id="rId17"/>
    <p:sldId id="305" r:id="rId18"/>
    <p:sldId id="306" r:id="rId19"/>
    <p:sldId id="307" r:id="rId20"/>
    <p:sldId id="308" r:id="rId21"/>
    <p:sldId id="309" r:id="rId22"/>
    <p:sldId id="311" r:id="rId23"/>
    <p:sldId id="303" r:id="rId24"/>
    <p:sldId id="264" r:id="rId25"/>
    <p:sldId id="265" r:id="rId26"/>
    <p:sldId id="266" r:id="rId27"/>
  </p:sldIdLst>
  <p:sldSz cx="9144000" cy="5143500" type="screen16x9"/>
  <p:notesSz cx="6858000" cy="9144000"/>
  <p:embeddedFontLst>
    <p:embeddedFont>
      <p:font typeface="Roboto" panose="020B0604020202020204" charset="0"/>
      <p:regular r:id="rId29"/>
    </p:embeddedFont>
    <p:embeddedFont>
      <p:font typeface="Roboto Medium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5503" userDrawn="1">
          <p15:clr>
            <a:srgbClr val="A4A3A4"/>
          </p15:clr>
        </p15:guide>
        <p15:guide id="2" pos="396" userDrawn="1">
          <p15:clr>
            <a:srgbClr val="9AA0A6"/>
          </p15:clr>
        </p15:guide>
        <p15:guide id="3" orient="horz" pos="3240" userDrawn="1">
          <p15:clr>
            <a:srgbClr val="9AA0A6"/>
          </p15:clr>
        </p15:guide>
        <p15:guide id="4" orient="horz" userDrawn="1">
          <p15:clr>
            <a:srgbClr val="747775"/>
          </p15:clr>
        </p15:guide>
        <p15:guide id="5" orient="horz" pos="51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6CBE098-D1CB-47F0-9D95-21E0C24FA3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95" autoAdjust="0"/>
  </p:normalViewPr>
  <p:slideViewPr>
    <p:cSldViewPr snapToGrid="0" showGuides="1">
      <p:cViewPr>
        <p:scale>
          <a:sx n="100" d="100"/>
          <a:sy n="100" d="100"/>
        </p:scale>
        <p:origin x="1230" y="960"/>
      </p:cViewPr>
      <p:guideLst>
        <p:guide pos="5503"/>
        <p:guide pos="396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42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864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5470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732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9856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83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/>
          <a:srcRect l="100" r="100"/>
          <a:stretch>
            <a:fillRect/>
          </a:stretch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 panose="02070309020205020404"/>
              <a:buNone/>
              <a:defRPr sz="110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 panose="02070309020205020404"/>
              <a:buNone/>
              <a:defRPr sz="1100">
                <a:solidFill>
                  <a:schemeClr val="lt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 panose="02070309020205020404"/>
              <a:buNone/>
              <a:defRPr sz="130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 panose="02070309020205020404"/>
              <a:buNone/>
              <a:defRPr sz="130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EEEE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Этап 1</a:t>
            </a:r>
            <a:endParaRPr sz="1500" b="1">
              <a:solidFill>
                <a:srgbClr val="EEEEE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EEEE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Этап 2</a:t>
            </a:r>
            <a:endParaRPr sz="1500" b="1">
              <a:solidFill>
                <a:srgbClr val="EEEEE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EEEE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Этап 3</a:t>
            </a:r>
            <a:endParaRPr sz="1500" b="1">
              <a:solidFill>
                <a:srgbClr val="EEEEE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EEEE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Этап 4</a:t>
            </a:r>
            <a:endParaRPr sz="1500" b="1">
              <a:solidFill>
                <a:srgbClr val="EEEEE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Описание данных в виде набора сущностей, отношений между ними, атрибутов сущностей, </a:t>
            </a:r>
            <a:r>
              <a:rPr lang="en-US" sz="9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Описание данных в виде набора сущностей, отношений между ними, атрибутов сущностей, </a:t>
            </a:r>
            <a:r>
              <a:rPr lang="en-US" sz="9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Описание данных в виде набора сущностей, отношений между ними, атрибутов сущностей, </a:t>
            </a:r>
            <a:r>
              <a:rPr lang="en-US" sz="9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Описание данных в виде набора сущностей, отношений между ними, атрибутов сущностей, </a:t>
            </a:r>
            <a:r>
              <a:rPr lang="en-US" sz="9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8210400" cy="3000000"/>
        </p:xfrm>
        <a:graphic>
          <a:graphicData uri="http://schemas.openxmlformats.org/drawingml/2006/table">
            <a:tbl>
              <a:tblPr>
                <a:noFill/>
                <a:tableStyleId>{66CBE098-D1CB-47F0-9D95-21E0C24FA317}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1. Описание эксперимента</a:t>
                      </a:r>
                      <a:r>
                        <a:rPr lang="en-US" sz="1700" b="1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  Ожидаемый результат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 panose="02000000000000000000"/>
                        <a:buChar char="●"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7961150" cy="3000000"/>
        </p:xfrm>
        <a:graphic>
          <a:graphicData uri="http://schemas.openxmlformats.org/drawingml/2006/table">
            <a:tbl>
              <a:tblPr>
                <a:noFill/>
                <a:tableStyleId>{66CBE098-D1CB-47F0-9D95-21E0C24FA317}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Текст нежирным шрифтом</a:t>
                      </a: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Текст нежирным шрифтом</a:t>
                      </a: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Поле для текста</a:t>
            </a:r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Поле для текста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 panose="02000000000000000000"/>
              <a:buNone/>
              <a:defRPr sz="31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 panose="02000000000000000000"/>
              <a:buChar char="●"/>
              <a:defRPr sz="17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 panose="02000000000000000000"/>
              <a:buChar char="○"/>
              <a:defRPr sz="15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 panose="02000000000000000000"/>
              <a:buChar char="●"/>
              <a:defRPr sz="17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 panose="02000000000000000000"/>
              <a:buChar char="○"/>
              <a:defRPr sz="15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 panose="02000000000000000000"/>
              <a:buNone/>
              <a:defRPr sz="31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 panose="02000000000000000000"/>
              <a:buChar char="●"/>
              <a:defRPr sz="17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 panose="02000000000000000000"/>
              <a:buChar char="○"/>
              <a:defRPr sz="15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/>
          <a:srcRect l="18598" r="18592"/>
          <a:stretch>
            <a:fillRect/>
          </a:stretch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205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Проектирование</a:t>
            </a:r>
            <a:r>
              <a:rPr lang="en-US" altLang="ru-RU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сетевой</a:t>
            </a:r>
            <a:r>
              <a:rPr lang="en-US" altLang="ru-RU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фабрики</a:t>
            </a:r>
            <a:r>
              <a:rPr lang="en-US" altLang="ru-RU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на</a:t>
            </a:r>
            <a:r>
              <a:rPr lang="en-US" altLang="ru-RU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основне</a:t>
            </a:r>
            <a:r>
              <a:rPr lang="en-US" altLang="ru-RU" sz="45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VxLAN EVPN.</a:t>
            </a: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Название курса</a:t>
            </a:r>
            <a:endParaRPr sz="100"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/>
              <a:t>Защита проекта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/>
              <a:t>Тема: </a:t>
            </a:r>
            <a:r>
              <a:rPr lang="ru-RU" altLang="en-US" sz="3000"/>
              <a:t>п</a:t>
            </a:r>
            <a:r>
              <a:rPr lang="en-US" altLang="en-US" sz="3000"/>
              <a:t>роектирование</a:t>
            </a:r>
            <a:r>
              <a:rPr lang="en-US" altLang="ru-RU" sz="3000"/>
              <a:t> </a:t>
            </a:r>
            <a:r>
              <a:rPr lang="en-US" altLang="en-US" sz="3000"/>
              <a:t>сетевой</a:t>
            </a:r>
            <a:r>
              <a:rPr lang="en-US" altLang="ru-RU" sz="3000"/>
              <a:t> </a:t>
            </a:r>
            <a:r>
              <a:rPr lang="en-US" altLang="en-US" sz="3000"/>
              <a:t>фабрики</a:t>
            </a:r>
            <a:r>
              <a:rPr lang="en-US" altLang="ru-RU" sz="3000"/>
              <a:t> </a:t>
            </a:r>
            <a:r>
              <a:rPr lang="en-US" altLang="en-US" sz="3000"/>
              <a:t>на</a:t>
            </a:r>
            <a:r>
              <a:rPr lang="en-US" altLang="ru-RU" sz="3000"/>
              <a:t> </a:t>
            </a:r>
            <a:r>
              <a:rPr lang="en-US" altLang="en-US" sz="3000"/>
              <a:t>основне</a:t>
            </a:r>
            <a:r>
              <a:rPr lang="en-US" altLang="ru-RU" sz="3000"/>
              <a:t> VxLAN EVPN.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altLang="ru-RU"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altLang="ru-RU"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000"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/>
          <a:srcRect t="30931" b="13765"/>
          <a:stretch>
            <a:fillRect/>
          </a:stretch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4016950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>
                <a:solidFill>
                  <a:srgbClr val="3F299A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Кукреш Алена</a:t>
            </a: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66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3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Сетевой инженер компании Тами и Ко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300">
                <a:solidFill>
                  <a:srgbClr val="000000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торговый бренд </a:t>
            </a:r>
            <a:r>
              <a:rPr lang="en-US" altLang="en-US" sz="1300">
                <a:solidFill>
                  <a:srgbClr val="000000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Henderson</a:t>
            </a:r>
          </a:p>
        </p:txBody>
      </p:sp>
      <p:pic>
        <p:nvPicPr>
          <p:cNvPr id="289" name="Google Shape;289;p49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9800000">
            <a:off x="968204" y="2811239"/>
            <a:ext cx="499518" cy="499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План защиты</a:t>
            </a:r>
          </a:p>
        </p:txBody>
      </p:sp>
      <p:sp>
        <p:nvSpPr>
          <p:cNvPr id="172" name="Google Shape;172;p38"/>
          <p:cNvSpPr/>
          <p:nvPr/>
        </p:nvSpPr>
        <p:spPr>
          <a:xfrm>
            <a:off x="1137920" y="1078865"/>
            <a:ext cx="3385185" cy="6045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VXLAN EVPN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фабрики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на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оборудовании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Arista vEOS</a:t>
            </a:r>
            <a:endParaRPr lang="ru-RU" altLang="en-US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7920" y="1846580"/>
            <a:ext cx="3385185" cy="6375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Underlay: eBGP</a:t>
            </a:r>
            <a:r>
              <a:rPr lang="ru-RU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Overlay: iBGP EVPN (Type-2, Type-3, Type-5)</a:t>
            </a: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Ф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абрика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с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двумя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независимыми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ЦОД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</a:t>
            </a:r>
          </a:p>
        </p:txBody>
      </p:sp>
      <p:sp>
        <p:nvSpPr>
          <p:cNvPr id="175" name="Google Shape;175;p38"/>
          <p:cNvSpPr/>
          <p:nvPr/>
        </p:nvSpPr>
        <p:spPr>
          <a:xfrm>
            <a:off x="1137920" y="3246120"/>
            <a:ext cx="3385185" cy="61468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Проект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успешно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реализован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получены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практические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навыки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конфигурации</a:t>
            </a: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 rot="10800000" flipH="1" flipV="1">
            <a:off x="1137920" y="1381125"/>
            <a:ext cx="3175" cy="784225"/>
          </a:xfrm>
          <a:prstGeom prst="bentConnector3">
            <a:avLst>
              <a:gd name="adj1" fmla="val -75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 rot="10800000" flipH="1" flipV="1">
            <a:off x="1137920" y="2165350"/>
            <a:ext cx="3175" cy="674370"/>
          </a:xfrm>
          <a:prstGeom prst="bentConnector3">
            <a:avLst>
              <a:gd name="adj1" fmla="val -75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 rot="10800000" flipH="1" flipV="1">
            <a:off x="1137920" y="2839720"/>
            <a:ext cx="3175" cy="713740"/>
          </a:xfrm>
          <a:prstGeom prst="bentConnector3">
            <a:avLst>
              <a:gd name="adj1" fmla="val -75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 rot="10800000" flipH="1" flipV="1">
            <a:off x="1137920" y="3553460"/>
            <a:ext cx="3175" cy="802005"/>
          </a:xfrm>
          <a:prstGeom prst="bentConnector3">
            <a:avLst>
              <a:gd name="adj1" fmla="val -75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41095" y="3994785"/>
            <a:ext cx="3385185" cy="7207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Д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альнейшее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масштабирование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автоматизация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развёртывания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внедрение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политик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безопасности</a:t>
            </a:r>
            <a:r>
              <a:rPr lang="en-US" altLang="ru-RU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Цел</a:t>
            </a:r>
            <a:r>
              <a:rPr lang="en-US" sz="3000" b="1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ь и задачи</a:t>
            </a:r>
            <a:r>
              <a:rPr lang="en-US" sz="3000" b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проекта</a:t>
            </a:r>
            <a:endParaRPr sz="3000" b="1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2569423614"/>
              </p:ext>
            </p:extLst>
          </p:nvPr>
        </p:nvGraphicFramePr>
        <p:xfrm>
          <a:off x="952500" y="2248177"/>
          <a:ext cx="7239000" cy="3648306"/>
        </p:xfrm>
        <a:graphic>
          <a:graphicData uri="http://schemas.openxmlformats.org/drawingml/2006/table">
            <a:tbl>
              <a:tblPr>
                <a:noFill/>
                <a:tableStyleId>{66CBE098-D1CB-47F0-9D95-21E0C24FA317}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US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Разработка схемы IP-адресации и плана сети.</a:t>
                      </a:r>
                      <a:endParaRPr lang="ru-RU" altLang="en-US"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Настройка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underlay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(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eBGP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) для IP-связности между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Leaf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и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Spine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Реализация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overlay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(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iBGP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EVPN) для обмена маршрутами VXLAN.</a:t>
                      </a:r>
                      <a:endParaRPr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4.</a:t>
                      </a:r>
                      <a:endParaRPr lang="ru-RU" sz="1600" b="1" dirty="0" smtClean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5.</a:t>
                      </a:r>
                      <a:endParaRPr lang="ru-RU" sz="1600" b="1" dirty="0" smtClean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6.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Организация межсайтового взаимодействия через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Border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Leaf</a:t>
                      </a:r>
                      <a:endParaRPr lang="ru-RU" dirty="0" smtClean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Внедрение </a:t>
                      </a:r>
                      <a:r>
                        <a:rPr lang="ru-RU" sz="1400" b="0" i="0" u="none" strike="noStrike" cap="none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мультихоминга</a:t>
                      </a:r>
                      <a:r>
                        <a:rPr lang="ru-RU" sz="1400" b="0" i="0" u="none" strike="noStrike" cap="none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(ESI LAG) для подключения клиентов к двум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Leaf</a:t>
                      </a:r>
                      <a:r>
                        <a:rPr lang="ru-RU" sz="1400" b="0" i="0" u="none" strike="noStrike" cap="none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.</a:t>
                      </a:r>
                      <a:endParaRPr lang="en-US" sz="1400" b="0" i="0" u="none" strike="noStrike" cap="none" dirty="0" smtClean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Проверка отказоустойчивости и </a:t>
                      </a:r>
                      <a:r>
                        <a:rPr lang="ru-RU" sz="1400" b="0" i="0" u="none" strike="noStrike" cap="none" dirty="0" err="1" smtClean="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связност</a:t>
                      </a:r>
                      <a:endParaRPr lang="ru-RU" sz="1400" b="0" i="0" u="none" strike="noStrike" cap="none" dirty="0" smtClean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cap="none" dirty="0" smtClean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Цель проекта: </a:t>
            </a:r>
            <a:r>
              <a:rPr lang="ru-RU" sz="1500">
                <a:solidFill>
                  <a:schemeClr val="dk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показать</a:t>
            </a:r>
            <a:r>
              <a:rPr lang="en-US" altLang="ru-RU" sz="1500">
                <a:solidFill>
                  <a:schemeClr val="dk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 </a:t>
            </a:r>
            <a:r>
              <a:rPr lang="ru-RU" altLang="ru-RU" sz="1500">
                <a:solidFill>
                  <a:schemeClr val="dk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изученные технологии в применении на практике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65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3000" dirty="0"/>
              <a:t>Схема сети</a:t>
            </a:r>
            <a:endParaRPr sz="3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23875"/>
            <a:ext cx="6734175" cy="4591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65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3000" dirty="0"/>
              <a:t>Схема сети</a:t>
            </a:r>
            <a:endParaRPr sz="3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23875"/>
            <a:ext cx="6734175" cy="459105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90801"/>
            <a:ext cx="4515307" cy="172402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307" y="2590801"/>
            <a:ext cx="4628694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5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1326682444"/>
              </p:ext>
            </p:extLst>
          </p:nvPr>
        </p:nvGraphicFramePr>
        <p:xfrm>
          <a:off x="704850" y="1204050"/>
          <a:ext cx="7239000" cy="4148970"/>
        </p:xfrm>
        <a:graphic>
          <a:graphicData uri="http://schemas.openxmlformats.org/drawingml/2006/table">
            <a:tbl>
              <a:tblPr>
                <a:noFill/>
                <a:tableStyleId>{66CBE098-D1CB-47F0-9D95-21E0C24FA317}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97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✅ 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Underlay BGP –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все сессии 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Established, Loopback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доступны.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050" dirty="0" smtClean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✅ 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Overlay EVPN – Type-2, Type-3, Type-4, Type-5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маршруты обмениваются внутри ЦОД и между ЦОД.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050" dirty="0" smtClean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✅ </a:t>
                      </a:r>
                      <a:r>
                        <a:rPr lang="ru-RU" sz="1050" dirty="0" err="1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Мультихоминг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– клиенты подключены с использованием 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ESI LAG, Type-4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маршруты активны, 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DF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выбран.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050" dirty="0" smtClean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✅ Межсайтовая связность – клиенты 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VLAN 10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ЦОД-1 и 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VLAN 20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ЦОД-2 обмениваются трафиком (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Type-5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маршруты).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050" dirty="0" smtClean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✅ </a:t>
                      </a:r>
                      <a:r>
                        <a:rPr lang="en-US" sz="1050" dirty="0" err="1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Anycast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Gateway –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единый шлюз 192.168.1.1 для 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VLAN 10 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и 192.168.2.1 для </a:t>
                      </a:r>
                      <a:r>
                        <a:rPr lang="en-US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VLAN 20.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dirty="0" smtClean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✅ Отказоустойчивость – при отключении одного </a:t>
                      </a:r>
                      <a:r>
                        <a:rPr lang="ru-RU" sz="1050" dirty="0" err="1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линка</a:t>
                      </a:r>
                      <a:r>
                        <a:rPr lang="ru-RU" sz="1050" dirty="0" smtClean="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клиента трафик переключается без разрыва связи.</a:t>
                      </a:r>
                      <a:endParaRPr lang="ru-RU" sz="1050" dirty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dirty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altLang="en-US" sz="1600" dirty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59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/>
              <a:t>Типы маршрутов </a:t>
            </a:r>
            <a:r>
              <a:rPr lang="en-US" sz="3000" dirty="0"/>
              <a:t>EVPN (</a:t>
            </a:r>
            <a:r>
              <a:rPr lang="ru-RU" sz="3000" dirty="0"/>
              <a:t>обзор)</a:t>
            </a: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690111465"/>
              </p:ext>
            </p:extLst>
          </p:nvPr>
        </p:nvGraphicFramePr>
        <p:xfrm>
          <a:off x="505800" y="1114424"/>
          <a:ext cx="7239000" cy="4328010"/>
        </p:xfrm>
        <a:graphic>
          <a:graphicData uri="http://schemas.openxmlformats.org/drawingml/2006/table">
            <a:tbl>
              <a:tblPr>
                <a:noFill/>
                <a:tableStyleId>{66CBE098-D1CB-47F0-9D95-21E0C24FA317}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61570"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Type-2	MAC/IP advertisement MAC-</a:t>
                      </a:r>
                      <a:r>
                        <a:rPr lang="ru-RU" sz="1600" dirty="0" smtClean="0"/>
                        <a:t>адреса клиентов, их </a:t>
                      </a:r>
                      <a:r>
                        <a:rPr lang="en-US" sz="1600" dirty="0" smtClean="0"/>
                        <a:t>IP</a:t>
                      </a:r>
                    </a:p>
                    <a:p>
                      <a:r>
                        <a:rPr lang="en-US" sz="1600" dirty="0" smtClean="0"/>
                        <a:t> </a:t>
                      </a:r>
                      <a:r>
                        <a:rPr lang="ru-RU" sz="1600" dirty="0" smtClean="0"/>
                        <a:t>и </a:t>
                      </a:r>
                      <a:r>
                        <a:rPr lang="en-US" sz="1600" dirty="0" smtClean="0"/>
                        <a:t>ESI</a:t>
                      </a:r>
                    </a:p>
                    <a:p>
                      <a:endParaRPr lang="en-US" sz="1600" dirty="0" smtClean="0"/>
                    </a:p>
                    <a:p>
                      <a:r>
                        <a:rPr lang="en-US" sz="1600" dirty="0" smtClean="0"/>
                        <a:t>Type-3	Inclusive Multicast (IMET) </a:t>
                      </a:r>
                      <a:r>
                        <a:rPr lang="ru-RU" sz="1600" dirty="0" smtClean="0"/>
                        <a:t>Информация о </a:t>
                      </a:r>
                      <a:r>
                        <a:rPr lang="en-US" sz="1600" dirty="0" smtClean="0"/>
                        <a:t>VTEP </a:t>
                      </a:r>
                      <a:r>
                        <a:rPr lang="ru-RU" sz="1600" dirty="0" smtClean="0"/>
                        <a:t>для </a:t>
                      </a:r>
                      <a:r>
                        <a:rPr lang="en-US" sz="1600" dirty="0" smtClean="0"/>
                        <a:t>BUM-</a:t>
                      </a:r>
                      <a:r>
                        <a:rPr lang="ru-RU" sz="1600" dirty="0" smtClean="0"/>
                        <a:t>трафика</a:t>
                      </a:r>
                      <a:endParaRPr lang="en-US" sz="1600" dirty="0" smtClean="0"/>
                    </a:p>
                    <a:p>
                      <a:endParaRPr lang="ru-RU" sz="1600" dirty="0" smtClean="0"/>
                    </a:p>
                    <a:p>
                      <a:r>
                        <a:rPr lang="en-US" sz="1600" dirty="0" smtClean="0"/>
                        <a:t>Type-4	Ethernet Segment	</a:t>
                      </a:r>
                      <a:r>
                        <a:rPr lang="ru-RU" sz="1600" dirty="0" smtClean="0"/>
                        <a:t>Обнаружение </a:t>
                      </a:r>
                      <a:r>
                        <a:rPr lang="en-US" sz="1600" dirty="0" smtClean="0"/>
                        <a:t>ESI </a:t>
                      </a:r>
                      <a:r>
                        <a:rPr lang="ru-RU" sz="1600" dirty="0" smtClean="0"/>
                        <a:t>и выбор </a:t>
                      </a:r>
                      <a:r>
                        <a:rPr lang="en-US" sz="1600" dirty="0" smtClean="0"/>
                        <a:t>DF</a:t>
                      </a:r>
                    </a:p>
                    <a:p>
                      <a:endParaRPr lang="en-US" sz="1600" dirty="0" smtClean="0"/>
                    </a:p>
                    <a:p>
                      <a:r>
                        <a:rPr lang="en-US" sz="1600" dirty="0" smtClean="0"/>
                        <a:t>Type-5	IP Prefix	</a:t>
                      </a:r>
                      <a:r>
                        <a:rPr lang="ru-RU" sz="1600" dirty="0" smtClean="0"/>
                        <a:t>Анонс подсетей, маршрутов между </a:t>
                      </a:r>
                      <a:r>
                        <a:rPr lang="en-US" sz="1600" dirty="0" smtClean="0"/>
                        <a:t>VRF </a:t>
                      </a:r>
                      <a:r>
                        <a:rPr lang="ru-RU" sz="1600" dirty="0" smtClean="0"/>
                        <a:t>и сайтами</a:t>
                      </a:r>
                      <a:endParaRPr lang="ru-RU" sz="1600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56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56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56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56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Google Shape;258;p4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54925" y="1261899"/>
            <a:ext cx="348500" cy="3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58;p4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33075" y="2656167"/>
            <a:ext cx="348500" cy="3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58;p4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6475" y="3254116"/>
            <a:ext cx="348500" cy="3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58;p4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91200" y="2035233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5;p40"/>
          <p:cNvSpPr txBox="1">
            <a:spLocks noGrp="1"/>
          </p:cNvSpPr>
          <p:nvPr>
            <p:ph type="title"/>
          </p:nvPr>
        </p:nvSpPr>
        <p:spPr>
          <a:xfrm>
            <a:off x="301561" y="221186"/>
            <a:ext cx="8520600" cy="659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/>
              <a:t>Type-2 </a:t>
            </a:r>
            <a:r>
              <a:rPr lang="ru-RU" sz="3000" dirty="0"/>
              <a:t>маршруты (</a:t>
            </a:r>
            <a:r>
              <a:rPr lang="en-US" sz="3000" dirty="0"/>
              <a:t>MAC/IP)</a:t>
            </a:r>
            <a:endParaRPr sz="3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62" y="881062"/>
            <a:ext cx="6604064" cy="41195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5;p40"/>
          <p:cNvSpPr txBox="1">
            <a:spLocks noGrp="1"/>
          </p:cNvSpPr>
          <p:nvPr>
            <p:ph type="title"/>
          </p:nvPr>
        </p:nvSpPr>
        <p:spPr>
          <a:xfrm>
            <a:off x="301561" y="221186"/>
            <a:ext cx="8520600" cy="659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/>
              <a:t>Type-3 </a:t>
            </a:r>
            <a:r>
              <a:rPr lang="ru-RU" sz="3000" dirty="0"/>
              <a:t>маршруты (</a:t>
            </a:r>
            <a:r>
              <a:rPr lang="en-US" sz="3000" dirty="0"/>
              <a:t>IMET)</a:t>
            </a:r>
            <a:endParaRPr sz="3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895350"/>
            <a:ext cx="7848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7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5;p40"/>
          <p:cNvSpPr txBox="1">
            <a:spLocks noGrp="1"/>
          </p:cNvSpPr>
          <p:nvPr>
            <p:ph type="title"/>
          </p:nvPr>
        </p:nvSpPr>
        <p:spPr>
          <a:xfrm>
            <a:off x="301561" y="221186"/>
            <a:ext cx="8520600" cy="659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/>
              <a:t>Type-4 </a:t>
            </a:r>
            <a:r>
              <a:rPr lang="ru-RU" sz="3000" dirty="0"/>
              <a:t>маршруты (</a:t>
            </a:r>
            <a:r>
              <a:rPr lang="en-US" sz="3000" dirty="0"/>
              <a:t>Ethernet Segment)</a:t>
            </a:r>
            <a:endParaRPr sz="3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62" y="881062"/>
            <a:ext cx="6413564" cy="1806527"/>
          </a:xfrm>
          <a:prstGeom prst="rect">
            <a:avLst/>
          </a:prstGeom>
        </p:spPr>
      </p:pic>
      <p:sp>
        <p:nvSpPr>
          <p:cNvPr id="5" name="Google Shape;195;p40"/>
          <p:cNvSpPr txBox="1">
            <a:spLocks/>
          </p:cNvSpPr>
          <p:nvPr/>
        </p:nvSpPr>
        <p:spPr>
          <a:xfrm>
            <a:off x="111061" y="2687589"/>
            <a:ext cx="3918014" cy="35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Roboto" panose="02000000000000000000"/>
              <a:buNone/>
              <a:defRPr sz="46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r>
              <a:rPr lang="ru-RU" sz="1600" dirty="0" smtClean="0"/>
              <a:t>Проверка работы </a:t>
            </a:r>
            <a:r>
              <a:rPr lang="en-US" sz="1600" dirty="0" smtClean="0"/>
              <a:t>port-channel </a:t>
            </a:r>
            <a:r>
              <a:rPr lang="ru-RU" sz="1600" dirty="0" smtClean="0"/>
              <a:t>и </a:t>
            </a:r>
            <a:r>
              <a:rPr lang="en-US" sz="1600" dirty="0" smtClean="0"/>
              <a:t>LACP</a:t>
            </a:r>
            <a:endParaRPr lang="en-US" sz="1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61" y="3145362"/>
            <a:ext cx="4222814" cy="15665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287" y="3141083"/>
            <a:ext cx="25431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7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5;p40"/>
          <p:cNvSpPr txBox="1">
            <a:spLocks noGrp="1"/>
          </p:cNvSpPr>
          <p:nvPr>
            <p:ph type="title"/>
          </p:nvPr>
        </p:nvSpPr>
        <p:spPr>
          <a:xfrm>
            <a:off x="339661" y="-28844"/>
            <a:ext cx="8520600" cy="659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400" dirty="0" smtClean="0"/>
              <a:t>Type-5 </a:t>
            </a:r>
            <a:r>
              <a:rPr lang="ru-RU" sz="1400" dirty="0"/>
              <a:t>маршруты (</a:t>
            </a:r>
            <a:r>
              <a:rPr lang="en-US" sz="1400" dirty="0"/>
              <a:t>Ethernet Segment</a:t>
            </a:r>
            <a:r>
              <a:rPr lang="en-US" sz="1400" dirty="0" smtClean="0"/>
              <a:t>) </a:t>
            </a:r>
            <a:endParaRPr sz="1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93" y="301094"/>
            <a:ext cx="8140935" cy="197643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03" y="2362200"/>
            <a:ext cx="8124825" cy="202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9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5;p40"/>
          <p:cNvSpPr txBox="1">
            <a:spLocks noGrp="1"/>
          </p:cNvSpPr>
          <p:nvPr>
            <p:ph type="title"/>
          </p:nvPr>
        </p:nvSpPr>
        <p:spPr>
          <a:xfrm>
            <a:off x="0" y="285481"/>
            <a:ext cx="8520600" cy="495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1400" dirty="0" smtClean="0"/>
              <a:t>Между </a:t>
            </a:r>
            <a:r>
              <a:rPr lang="en-US" sz="1400" dirty="0" smtClean="0"/>
              <a:t>POD </a:t>
            </a:r>
            <a:r>
              <a:rPr lang="ru-RU" sz="1400" dirty="0" smtClean="0"/>
              <a:t>настроен </a:t>
            </a:r>
            <a:r>
              <a:rPr lang="en-US" sz="1400" dirty="0" err="1" smtClean="0"/>
              <a:t>Simmetric</a:t>
            </a:r>
            <a:r>
              <a:rPr lang="en-US" sz="1400" dirty="0" smtClean="0"/>
              <a:t> IRB, </a:t>
            </a:r>
            <a:r>
              <a:rPr lang="ru-RU" sz="1400" dirty="0" smtClean="0"/>
              <a:t>с </a:t>
            </a:r>
            <a:r>
              <a:rPr lang="ru-RU" sz="1400" dirty="0" err="1" smtClean="0"/>
              <a:t>однкаовым</a:t>
            </a:r>
            <a:r>
              <a:rPr lang="ru-RU" sz="1400" dirty="0" smtClean="0"/>
              <a:t> </a:t>
            </a:r>
            <a:r>
              <a:rPr lang="en-US" sz="1400" dirty="0" smtClean="0"/>
              <a:t>L3VNI </a:t>
            </a:r>
            <a:endParaRPr sz="1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175" y="-23813"/>
            <a:ext cx="3933825" cy="51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0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Далее что-то пошло не так после попытки добавления маршрута полученного из </a:t>
            </a:r>
            <a:r>
              <a:rPr lang="en-US" dirty="0" err="1" smtClean="0"/>
              <a:t>Ebgp</a:t>
            </a:r>
            <a:r>
              <a:rPr lang="en-US" dirty="0" smtClean="0"/>
              <a:t> </a:t>
            </a:r>
            <a:r>
              <a:rPr lang="ru-RU" dirty="0" smtClean="0"/>
              <a:t>от соседа </a:t>
            </a:r>
            <a:endParaRPr lang="ru-RU" dirty="0"/>
          </a:p>
        </p:txBody>
      </p:sp>
      <p:pic>
        <p:nvPicPr>
          <p:cNvPr id="3" name="Google Shape;314;p4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191889">
            <a:off x="6668683" y="3818219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14;p4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20330669">
            <a:off x="972733" y="39639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14;p4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7849061" y="396393"/>
            <a:ext cx="508464" cy="5084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635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975" y="1"/>
            <a:ext cx="7706100" cy="685800"/>
          </a:xfrm>
        </p:spPr>
        <p:txBody>
          <a:bodyPr/>
          <a:lstStyle/>
          <a:p>
            <a:r>
              <a:rPr lang="ru-RU" sz="2800" dirty="0" smtClean="0"/>
              <a:t>Что было добавлено</a:t>
            </a:r>
            <a:endParaRPr lang="ru-RU" sz="28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00050" y="771526"/>
            <a:ext cx="80527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Roboto" panose="02000000000000000000"/>
              <a:buNone/>
              <a:defRPr sz="46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r>
              <a:rPr lang="ru-RU" sz="2800" dirty="0" smtClean="0"/>
              <a:t>У </a:t>
            </a:r>
            <a:r>
              <a:rPr lang="en-US" sz="2800" dirty="0" err="1" smtClean="0"/>
              <a:t>Border_leaf</a:t>
            </a:r>
            <a:r>
              <a:rPr lang="en-US" sz="2800" dirty="0" smtClean="0"/>
              <a:t> </a:t>
            </a:r>
            <a:r>
              <a:rPr lang="ru-RU" sz="2800" dirty="0" smtClean="0"/>
              <a:t>поднято </a:t>
            </a:r>
            <a:r>
              <a:rPr lang="en-US" sz="2800" dirty="0" err="1" smtClean="0"/>
              <a:t>eBGP</a:t>
            </a:r>
            <a:r>
              <a:rPr lang="en-US" sz="2800" dirty="0" smtClean="0"/>
              <a:t> </a:t>
            </a:r>
            <a:r>
              <a:rPr lang="ru-RU" sz="2800" dirty="0" smtClean="0"/>
              <a:t>соседство с условным провайдером</a:t>
            </a:r>
            <a:endParaRPr lang="ru-RU" sz="2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0" y="1619250"/>
            <a:ext cx="72924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975" y="1"/>
            <a:ext cx="7706100" cy="685800"/>
          </a:xfrm>
        </p:spPr>
        <p:txBody>
          <a:bodyPr/>
          <a:lstStyle/>
          <a:p>
            <a:r>
              <a:rPr lang="ru-RU" sz="2800" dirty="0" smtClean="0"/>
              <a:t>Что было добавлено</a:t>
            </a:r>
            <a:endParaRPr lang="ru-RU" sz="28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3133725" y="342901"/>
            <a:ext cx="80527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Roboto" panose="02000000000000000000"/>
              <a:buNone/>
              <a:defRPr sz="46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r>
              <a:rPr lang="en-US" sz="2800" dirty="0" smtClean="0"/>
              <a:t>Border leaf1</a:t>
            </a:r>
            <a:endParaRPr lang="ru-RU" sz="2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028701"/>
            <a:ext cx="3355513" cy="39671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187" y="1145382"/>
            <a:ext cx="38766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6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975" y="0"/>
            <a:ext cx="7706100" cy="1504949"/>
          </a:xfrm>
        </p:spPr>
        <p:txBody>
          <a:bodyPr/>
          <a:lstStyle/>
          <a:p>
            <a:r>
              <a:rPr lang="ru-RU" sz="2000" dirty="0" smtClean="0"/>
              <a:t>Маршрут добавился в таблицу маршрутизации, но не добавился в таблицу маршрутизации </a:t>
            </a:r>
            <a:r>
              <a:rPr lang="en-US" sz="2000" dirty="0" smtClean="0"/>
              <a:t>VRF </a:t>
            </a:r>
            <a:r>
              <a:rPr lang="ru-RU" sz="2000" dirty="0" smtClean="0"/>
              <a:t>и соответственно не передался остальным участника </a:t>
            </a:r>
            <a:r>
              <a:rPr lang="en-US" sz="2000" dirty="0" smtClean="0"/>
              <a:t>VNI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4" y="1504949"/>
            <a:ext cx="7957792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2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90305" y="457200"/>
            <a:ext cx="3726670" cy="838200"/>
          </a:xfrm>
        </p:spPr>
        <p:txBody>
          <a:bodyPr/>
          <a:lstStyle/>
          <a:p>
            <a:r>
              <a:rPr lang="ru-RU" sz="2000" dirty="0" smtClean="0"/>
              <a:t>Далее пропала связность между клиентами разных </a:t>
            </a:r>
            <a:r>
              <a:rPr lang="en-US" sz="2000" dirty="0" smtClean="0"/>
              <a:t>POD</a:t>
            </a:r>
            <a:r>
              <a:rPr lang="ru-RU" sz="2000" dirty="0" smtClean="0"/>
              <a:t>,</a:t>
            </a:r>
            <a:br>
              <a:rPr lang="ru-RU" sz="2000" dirty="0" smtClean="0"/>
            </a:br>
            <a:r>
              <a:rPr lang="ru-RU" sz="2000" dirty="0" smtClean="0"/>
              <a:t>при том, что маршруты 2 и 3 типа остались такими же, как были до внесения изменений</a:t>
            </a: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590" y="0"/>
            <a:ext cx="523963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2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775"/>
            <a:ext cx="5989040" cy="838200"/>
          </a:xfrm>
        </p:spPr>
        <p:txBody>
          <a:bodyPr/>
          <a:lstStyle/>
          <a:p>
            <a:r>
              <a:rPr lang="ru-RU" sz="2000" dirty="0" smtClean="0"/>
              <a:t>На </a:t>
            </a:r>
            <a:r>
              <a:rPr lang="en-US" sz="2000" dirty="0" smtClean="0"/>
              <a:t>Leaf </a:t>
            </a:r>
            <a:r>
              <a:rPr lang="ru-RU" sz="2000" dirty="0" smtClean="0"/>
              <a:t>коммутаторах префиксы также остались, а маршруты 2 типа исчезли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733425"/>
            <a:ext cx="6008516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8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5;p40"/>
          <p:cNvSpPr txBox="1">
            <a:spLocks noGrp="1"/>
          </p:cNvSpPr>
          <p:nvPr>
            <p:ph type="title"/>
          </p:nvPr>
        </p:nvSpPr>
        <p:spPr>
          <a:xfrm>
            <a:off x="2844736" y="-28844"/>
            <a:ext cx="2327339" cy="486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1600" dirty="0" smtClean="0"/>
              <a:t>Проверка связности</a:t>
            </a:r>
            <a:br>
              <a:rPr lang="ru-RU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endParaRPr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22" y="631032"/>
            <a:ext cx="3451289" cy="2688432"/>
          </a:xfrm>
          <a:prstGeom prst="rect">
            <a:avLst/>
          </a:prstGeom>
        </p:spPr>
      </p:pic>
      <p:sp>
        <p:nvSpPr>
          <p:cNvPr id="7" name="Google Shape;195;p40"/>
          <p:cNvSpPr txBox="1">
            <a:spLocks/>
          </p:cNvSpPr>
          <p:nvPr/>
        </p:nvSpPr>
        <p:spPr>
          <a:xfrm>
            <a:off x="5549836" y="301094"/>
            <a:ext cx="2327339" cy="65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Roboto" panose="02000000000000000000"/>
              <a:buNone/>
              <a:defRPr sz="46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oboto" panose="02000000000000000000"/>
              <a:buNone/>
              <a:defRPr sz="5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r>
              <a:rPr lang="ru-RU" sz="1400" dirty="0" smtClean="0"/>
              <a:t>С соседним </a:t>
            </a:r>
            <a:r>
              <a:rPr lang="en-US" sz="1400" dirty="0" smtClean="0"/>
              <a:t>POD</a:t>
            </a:r>
            <a:br>
              <a:rPr lang="en-US" sz="1400" dirty="0" smtClean="0"/>
            </a:br>
            <a:endParaRPr lang="en-US" sz="1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826" y="631032"/>
            <a:ext cx="4943474" cy="402907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92345" y="323255"/>
            <a:ext cx="12522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Roboto" panose="020B0604020202020204" charset="0"/>
                <a:ea typeface="Roboto" panose="020B0604020202020204" charset="0"/>
              </a:rPr>
              <a:t>Внутри</a:t>
            </a:r>
            <a:r>
              <a:rPr lang="ru-RU" b="1" dirty="0"/>
              <a:t> </a:t>
            </a:r>
            <a:r>
              <a:rPr lang="en-US" b="1" dirty="0"/>
              <a:t>POD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4945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+</a:t>
            </a:r>
            <a:endParaRPr sz="4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– </a:t>
            </a:r>
            <a:endParaRPr sz="4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200">
                  <a:solidFill>
                    <a:schemeClr val="dk1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487</Words>
  <Application>Microsoft Office PowerPoint</Application>
  <PresentationFormat>Экран (16:9)</PresentationFormat>
  <Paragraphs>81</Paragraphs>
  <Slides>24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Roboto</vt:lpstr>
      <vt:lpstr>Courier New</vt:lpstr>
      <vt:lpstr>Roboto Medium</vt:lpstr>
      <vt:lpstr>Arial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проектирование сетевой фабрики на основне VxLAN EVPN.   </vt:lpstr>
      <vt:lpstr>План защиты</vt:lpstr>
      <vt:lpstr>Презентация PowerPoint</vt:lpstr>
      <vt:lpstr>Схема сети</vt:lpstr>
      <vt:lpstr>Схема сети</vt:lpstr>
      <vt:lpstr>Выводы </vt:lpstr>
      <vt:lpstr>Типы маршрутов EVPN (обзор)</vt:lpstr>
      <vt:lpstr>Type-2 маршруты (MAC/IP)</vt:lpstr>
      <vt:lpstr>Type-3 маршруты (IMET)</vt:lpstr>
      <vt:lpstr>Type-4 маршруты (Ethernet Segment)</vt:lpstr>
      <vt:lpstr>Type-5 маршруты (Ethernet Segment) </vt:lpstr>
      <vt:lpstr>Между POD настроен Simmetric IRB, с однкаовым L3VNI </vt:lpstr>
      <vt:lpstr>Далее что-то пошло не так после попытки добавления маршрута полученного из Ebgp от соседа </vt:lpstr>
      <vt:lpstr>Что было добавлено</vt:lpstr>
      <vt:lpstr>Что было добавлено</vt:lpstr>
      <vt:lpstr>Маршрут добавился в таблицу маршрутизации, но не добавился в таблицу маршрутизации VRF и соответственно не передался остальным участника VNI</vt:lpstr>
      <vt:lpstr>Далее пропала связность между клиентами разных POD, при том, что маршруты 2 и 3 типа остались такими же, как были до внесения изменений</vt:lpstr>
      <vt:lpstr>На Leaf коммутаторах префиксы также остались, а маршруты 2 типа исчезли</vt:lpstr>
      <vt:lpstr>Проверка связности 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Алёна Кукреш</cp:lastModifiedBy>
  <cp:revision>16</cp:revision>
  <dcterms:created xsi:type="dcterms:W3CDTF">2026-03-17T21:42:48Z</dcterms:created>
  <dcterms:modified xsi:type="dcterms:W3CDTF">2026-03-18T16:04:16Z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369AE81F82704C619E75C987E4F0CB38_13</vt:lpwstr>
  </property>
  <property fmtid="{D5CDD505-2E9C-101B-9397-08002B2CF9AE}" pid="3" name="KSOProductBuildVer">
    <vt:lpwstr>1049-12.2.0.23196</vt:lpwstr>
  </property>
</Properties>
</file>